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 foto aérea" descr="lotes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Lote destacado (color + trazo)" descr="lotes-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4" name="Título parte 1"/>
          <p:cNvSpPr txBox="1"/>
          <p:nvPr/>
        </p:nvSpPr>
        <p:spPr>
          <a:xfrm>
            <a:off x="723900" y="876300"/>
            <a:ext cx="9220200" cy="14933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5880"/>
              </a:lnSpc>
            </a:pPr>
            <a:r>
              <a:rPr sz="6000" b="1" i="0">
                <a:solidFill>
                  <a:srgbClr val="0A2342"/>
                </a:solidFill>
                <a:latin typeface="Manrope"/>
              </a:rPr>
              <a:t>Tu equipo de</a:t>
            </a:r>
            <a:br/>
            <a:r>
              <a:rPr sz="6000" b="1" i="0">
                <a:solidFill>
                  <a:srgbClr val="0A2342"/>
                </a:solidFill>
                <a:latin typeface="Manrope"/>
              </a:rPr>
              <a:t>tecnología experto</a:t>
            </a:r>
          </a:p>
        </p:txBody>
      </p:sp>
      <p:sp>
        <p:nvSpPr>
          <p:cNvPr id="5" name="Título parte 2"/>
          <p:cNvSpPr txBox="1"/>
          <p:nvPr/>
        </p:nvSpPr>
        <p:spPr>
          <a:xfrm>
            <a:off x="723900" y="2636341"/>
            <a:ext cx="9220200" cy="180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125"/>
              </a:lnSpc>
            </a:pPr>
            <a:r>
              <a:rPr sz="7500" b="0" i="1">
                <a:solidFill>
                  <a:srgbClr val="0A2342"/>
                </a:solidFill>
                <a:latin typeface="Instrument Serif"/>
              </a:rPr>
              <a:t>en soluciones con IA</a:t>
            </a:r>
            <a:br/>
            <a:r>
              <a:rPr sz="7500" b="0" i="1">
                <a:solidFill>
                  <a:srgbClr val="0A2342"/>
                </a:solidFill>
                <a:latin typeface="Instrument Serif"/>
              </a:rPr>
              <a:t>para bienes raíces</a:t>
            </a:r>
          </a:p>
        </p:txBody>
      </p:sp>
      <p:sp>
        <p:nvSpPr>
          <p:cNvPr id="6" name="Tarjeta 1"/>
          <p:cNvSpPr/>
          <p:nvPr/>
        </p:nvSpPr>
        <p:spPr>
          <a:xfrm>
            <a:off x="723900" y="4819650"/>
            <a:ext cx="3113931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>
            <a:outerShdw blurRad="285750" dist="114300" dir="5400000" algn="t" rotWithShape="0">
              <a:srgbClr val="1218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Ícono tarjeta 1" descr="lotes-icon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905375"/>
            <a:ext cx="400050" cy="400050"/>
          </a:xfrm>
          <a:prstGeom prst="rect">
            <a:avLst/>
          </a:prstGeom>
        </p:spPr>
      </p:pic>
      <p:sp>
        <p:nvSpPr>
          <p:cNvPr id="8" name="Texto tarjeta 1"/>
          <p:cNvSpPr txBox="1"/>
          <p:nvPr/>
        </p:nvSpPr>
        <p:spPr>
          <a:xfrm>
            <a:off x="1362075" y="4962525"/>
            <a:ext cx="2456706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 i="0">
                <a:solidFill>
                  <a:srgbClr val="0A2342"/>
                </a:solidFill>
                <a:latin typeface="Manrope"/>
              </a:rPr>
              <a:t>Gestiona interesados</a:t>
            </a:r>
          </a:p>
        </p:txBody>
      </p:sp>
      <p:sp>
        <p:nvSpPr>
          <p:cNvPr id="9" name="Tarjeta 2"/>
          <p:cNvSpPr/>
          <p:nvPr/>
        </p:nvSpPr>
        <p:spPr>
          <a:xfrm>
            <a:off x="723900" y="5486400"/>
            <a:ext cx="2717899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>
            <a:outerShdw blurRad="285750" dist="114300" dir="5400000" algn="t" rotWithShape="0">
              <a:srgbClr val="1218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Ícono tarjeta 2" descr="lotes-icon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5572125"/>
            <a:ext cx="400050" cy="400050"/>
          </a:xfrm>
          <a:prstGeom prst="rect">
            <a:avLst/>
          </a:prstGeom>
        </p:spPr>
      </p:pic>
      <p:sp>
        <p:nvSpPr>
          <p:cNvPr id="11" name="Texto tarjeta 2"/>
          <p:cNvSpPr txBox="1"/>
          <p:nvPr/>
        </p:nvSpPr>
        <p:spPr>
          <a:xfrm>
            <a:off x="1362075" y="5629275"/>
            <a:ext cx="2060674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 i="0">
                <a:solidFill>
                  <a:srgbClr val="0A2342"/>
                </a:solidFill>
                <a:latin typeface="Manrope"/>
              </a:rPr>
              <a:t>Gestiona clientes</a:t>
            </a:r>
          </a:p>
        </p:txBody>
      </p:sp>
      <p:sp>
        <p:nvSpPr>
          <p:cNvPr id="12" name="Tarjeta 3"/>
          <p:cNvSpPr/>
          <p:nvPr/>
        </p:nvSpPr>
        <p:spPr>
          <a:xfrm>
            <a:off x="723900" y="6153150"/>
            <a:ext cx="3182689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>
            <a:outerShdw blurRad="285750" dist="114300" dir="5400000" algn="t" rotWithShape="0">
              <a:srgbClr val="1218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Ícono tarjeta 3" descr="lotes-icon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6238875"/>
            <a:ext cx="400050" cy="400050"/>
          </a:xfrm>
          <a:prstGeom prst="rect">
            <a:avLst/>
          </a:prstGeom>
        </p:spPr>
      </p:pic>
      <p:sp>
        <p:nvSpPr>
          <p:cNvPr id="14" name="Texto tarjeta 3"/>
          <p:cNvSpPr txBox="1"/>
          <p:nvPr/>
        </p:nvSpPr>
        <p:spPr>
          <a:xfrm>
            <a:off x="1362075" y="6296025"/>
            <a:ext cx="2525464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 i="0">
                <a:solidFill>
                  <a:srgbClr val="0A2342"/>
                </a:solidFill>
                <a:latin typeface="Manrope"/>
              </a:rPr>
              <a:t>Gestiona proveedores</a:t>
            </a:r>
          </a:p>
        </p:txBody>
      </p:sp>
      <p:sp>
        <p:nvSpPr>
          <p:cNvPr id="15" name="Tarjeta 4"/>
          <p:cNvSpPr/>
          <p:nvPr/>
        </p:nvSpPr>
        <p:spPr>
          <a:xfrm>
            <a:off x="723900" y="6819900"/>
            <a:ext cx="3297585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>
            <a:outerShdw blurRad="285750" dist="114300" dir="5400000" algn="t" rotWithShape="0">
              <a:srgbClr val="1218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Ícono tarjeta 4" descr="lotes-icon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6905625"/>
            <a:ext cx="400050" cy="400050"/>
          </a:xfrm>
          <a:prstGeom prst="rect">
            <a:avLst/>
          </a:prstGeom>
        </p:spPr>
      </p:pic>
      <p:sp>
        <p:nvSpPr>
          <p:cNvPr id="17" name="Texto tarjeta 4"/>
          <p:cNvSpPr txBox="1"/>
          <p:nvPr/>
        </p:nvSpPr>
        <p:spPr>
          <a:xfrm>
            <a:off x="1362075" y="6962775"/>
            <a:ext cx="264036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 i="0">
                <a:solidFill>
                  <a:srgbClr val="0A2342"/>
                </a:solidFill>
                <a:latin typeface="Manrope"/>
              </a:rPr>
              <a:t>Gestiona tus proyectos</a:t>
            </a:r>
          </a:p>
        </p:txBody>
      </p:sp>
      <p:sp>
        <p:nvSpPr>
          <p:cNvPr id="18" name="Argumento precio"/>
          <p:cNvSpPr txBox="1"/>
          <p:nvPr/>
        </p:nvSpPr>
        <p:spPr>
          <a:xfrm>
            <a:off x="723900" y="8020050"/>
            <a:ext cx="5912197" cy="371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 i="0">
                <a:solidFill>
                  <a:srgbClr val="4A5560"/>
                </a:solidFill>
                <a:latin typeface="Manrope"/>
              </a:rPr>
              <a:t>Por menos de </a:t>
            </a:r>
            <a:r>
              <a:rPr sz="2250" b="1" i="0">
                <a:solidFill>
                  <a:srgbClr val="0A2342"/>
                </a:solidFill>
                <a:latin typeface="Manrope"/>
              </a:rPr>
              <a:t>un salario mínimo</a:t>
            </a:r>
            <a:r>
              <a:rPr sz="2250" b="0" i="0">
                <a:solidFill>
                  <a:srgbClr val="4A5560"/>
                </a:solidFill>
                <a:latin typeface="Manrope"/>
              </a:rPr>
              <a:t> al mes.</a:t>
            </a:r>
          </a:p>
        </p:txBody>
      </p:sp>
      <p:sp>
        <p:nvSpPr>
          <p:cNvPr id="19" name="Botón CTA"/>
          <p:cNvSpPr/>
          <p:nvPr/>
        </p:nvSpPr>
        <p:spPr>
          <a:xfrm>
            <a:off x="723900" y="8677275"/>
            <a:ext cx="5579269" cy="885825"/>
          </a:xfrm>
          <a:prstGeom prst="roundRect">
            <a:avLst>
              <a:gd name="adj" fmla="val 50000"/>
            </a:avLst>
          </a:prstGeom>
          <a:solidFill>
            <a:srgbClr val="25D366"/>
          </a:solidFill>
          <a:ln>
            <a:noFill/>
          </a:ln>
          <a:effectLst>
            <a:outerShdw blurRad="266700" dist="114300" dir="5400000" algn="t" rotWithShape="0">
              <a:srgbClr val="1218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none"/>
          <a:lstStyle/>
          <a:p>
            <a:pPr algn="ctr"/>
            <a:r>
              <a:rPr sz="2250" b="1" i="0">
                <a:solidFill>
                  <a:srgbClr val="121820"/>
                </a:solidFill>
                <a:latin typeface="Manrope"/>
              </a:rPr>
              <a:t>Empieza hoy tu transformación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ondo foto aérea" descr="propiedades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pic>
        <p:nvPicPr>
          <p:cNvPr id="3" name="Lote destacado (color + trazo)" descr="propiedades-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4" name="Título parte 1"/>
          <p:cNvSpPr txBox="1"/>
          <p:nvPr/>
        </p:nvSpPr>
        <p:spPr>
          <a:xfrm>
            <a:off x="723900" y="876300"/>
            <a:ext cx="9220200" cy="14933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5880"/>
              </a:lnSpc>
            </a:pPr>
            <a:r>
              <a:rPr sz="6000" b="1" i="0">
                <a:solidFill>
                  <a:srgbClr val="0A2342"/>
                </a:solidFill>
                <a:latin typeface="Manrope"/>
              </a:rPr>
              <a:t>Tu equipo de</a:t>
            </a:r>
            <a:br/>
            <a:r>
              <a:rPr sz="6000" b="1" i="0">
                <a:solidFill>
                  <a:srgbClr val="0A2342"/>
                </a:solidFill>
                <a:latin typeface="Manrope"/>
              </a:rPr>
              <a:t>tecnología experto</a:t>
            </a:r>
          </a:p>
        </p:txBody>
      </p:sp>
      <p:sp>
        <p:nvSpPr>
          <p:cNvPr id="5" name="Título parte 2"/>
          <p:cNvSpPr txBox="1"/>
          <p:nvPr/>
        </p:nvSpPr>
        <p:spPr>
          <a:xfrm>
            <a:off x="723900" y="2636341"/>
            <a:ext cx="9220200" cy="1809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7125"/>
              </a:lnSpc>
            </a:pPr>
            <a:r>
              <a:rPr sz="7500" b="0" i="1">
                <a:solidFill>
                  <a:srgbClr val="0A2342"/>
                </a:solidFill>
                <a:latin typeface="Instrument Serif"/>
              </a:rPr>
              <a:t>en soluciones con IA</a:t>
            </a:r>
            <a:br/>
            <a:r>
              <a:rPr sz="7500" b="0" i="1">
                <a:solidFill>
                  <a:srgbClr val="0A2342"/>
                </a:solidFill>
                <a:latin typeface="Instrument Serif"/>
              </a:rPr>
              <a:t>para bienes raíces</a:t>
            </a:r>
          </a:p>
        </p:txBody>
      </p:sp>
      <p:sp>
        <p:nvSpPr>
          <p:cNvPr id="6" name="Tarjeta 1"/>
          <p:cNvSpPr/>
          <p:nvPr/>
        </p:nvSpPr>
        <p:spPr>
          <a:xfrm>
            <a:off x="723900" y="4819650"/>
            <a:ext cx="3113931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>
            <a:outerShdw blurRad="285750" dist="114300" dir="5400000" algn="t" rotWithShape="0">
              <a:srgbClr val="1218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Ícono tarjeta 1" descr="lotes-icon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905375"/>
            <a:ext cx="400050" cy="400050"/>
          </a:xfrm>
          <a:prstGeom prst="rect">
            <a:avLst/>
          </a:prstGeom>
        </p:spPr>
      </p:pic>
      <p:sp>
        <p:nvSpPr>
          <p:cNvPr id="8" name="Texto tarjeta 1"/>
          <p:cNvSpPr txBox="1"/>
          <p:nvPr/>
        </p:nvSpPr>
        <p:spPr>
          <a:xfrm>
            <a:off x="1362075" y="4962525"/>
            <a:ext cx="2456706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 i="0">
                <a:solidFill>
                  <a:srgbClr val="0A2342"/>
                </a:solidFill>
                <a:latin typeface="Manrope"/>
              </a:rPr>
              <a:t>Gestiona interesados</a:t>
            </a:r>
          </a:p>
        </p:txBody>
      </p:sp>
      <p:sp>
        <p:nvSpPr>
          <p:cNvPr id="9" name="Tarjeta 2"/>
          <p:cNvSpPr/>
          <p:nvPr/>
        </p:nvSpPr>
        <p:spPr>
          <a:xfrm>
            <a:off x="723900" y="5486400"/>
            <a:ext cx="2717899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>
            <a:outerShdw blurRad="285750" dist="114300" dir="5400000" algn="t" rotWithShape="0">
              <a:srgbClr val="1218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Ícono tarjeta 2" descr="lotes-icon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5572125"/>
            <a:ext cx="400050" cy="400050"/>
          </a:xfrm>
          <a:prstGeom prst="rect">
            <a:avLst/>
          </a:prstGeom>
        </p:spPr>
      </p:pic>
      <p:sp>
        <p:nvSpPr>
          <p:cNvPr id="11" name="Texto tarjeta 2"/>
          <p:cNvSpPr txBox="1"/>
          <p:nvPr/>
        </p:nvSpPr>
        <p:spPr>
          <a:xfrm>
            <a:off x="1362075" y="5629275"/>
            <a:ext cx="2060674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 i="0">
                <a:solidFill>
                  <a:srgbClr val="0A2342"/>
                </a:solidFill>
                <a:latin typeface="Manrope"/>
              </a:rPr>
              <a:t>Gestiona clientes</a:t>
            </a:r>
          </a:p>
        </p:txBody>
      </p:sp>
      <p:sp>
        <p:nvSpPr>
          <p:cNvPr id="12" name="Tarjeta 3"/>
          <p:cNvSpPr/>
          <p:nvPr/>
        </p:nvSpPr>
        <p:spPr>
          <a:xfrm>
            <a:off x="723900" y="6153150"/>
            <a:ext cx="3182689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>
            <a:outerShdw blurRad="285750" dist="114300" dir="5400000" algn="t" rotWithShape="0">
              <a:srgbClr val="1218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Ícono tarjeta 3" descr="lotes-icon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6238875"/>
            <a:ext cx="400050" cy="400050"/>
          </a:xfrm>
          <a:prstGeom prst="rect">
            <a:avLst/>
          </a:prstGeom>
        </p:spPr>
      </p:pic>
      <p:sp>
        <p:nvSpPr>
          <p:cNvPr id="14" name="Texto tarjeta 3"/>
          <p:cNvSpPr txBox="1"/>
          <p:nvPr/>
        </p:nvSpPr>
        <p:spPr>
          <a:xfrm>
            <a:off x="1362075" y="6296025"/>
            <a:ext cx="2525464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 i="0">
                <a:solidFill>
                  <a:srgbClr val="0A2342"/>
                </a:solidFill>
                <a:latin typeface="Manrope"/>
              </a:rPr>
              <a:t>Gestiona proveedores</a:t>
            </a:r>
          </a:p>
        </p:txBody>
      </p:sp>
      <p:sp>
        <p:nvSpPr>
          <p:cNvPr id="15" name="Tarjeta 4"/>
          <p:cNvSpPr/>
          <p:nvPr/>
        </p:nvSpPr>
        <p:spPr>
          <a:xfrm>
            <a:off x="723900" y="6819900"/>
            <a:ext cx="3297585" cy="57150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>
            <a:noFill/>
          </a:ln>
          <a:effectLst>
            <a:outerShdw blurRad="285750" dist="114300" dir="5400000" algn="t" rotWithShape="0">
              <a:srgbClr val="121820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Ícono tarjeta 4" descr="lotes-icon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6905625"/>
            <a:ext cx="400050" cy="400050"/>
          </a:xfrm>
          <a:prstGeom prst="rect">
            <a:avLst/>
          </a:prstGeom>
        </p:spPr>
      </p:pic>
      <p:sp>
        <p:nvSpPr>
          <p:cNvPr id="17" name="Texto tarjeta 4"/>
          <p:cNvSpPr txBox="1"/>
          <p:nvPr/>
        </p:nvSpPr>
        <p:spPr>
          <a:xfrm>
            <a:off x="1362075" y="6962775"/>
            <a:ext cx="2640360" cy="2857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50" b="1" i="0">
                <a:solidFill>
                  <a:srgbClr val="0A2342"/>
                </a:solidFill>
                <a:latin typeface="Manrope"/>
              </a:rPr>
              <a:t>Gestiona tus proyectos</a:t>
            </a:r>
          </a:p>
        </p:txBody>
      </p:sp>
      <p:sp>
        <p:nvSpPr>
          <p:cNvPr id="18" name="Argumento precio"/>
          <p:cNvSpPr txBox="1"/>
          <p:nvPr/>
        </p:nvSpPr>
        <p:spPr>
          <a:xfrm>
            <a:off x="723900" y="8020050"/>
            <a:ext cx="5912197" cy="371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2250" b="0" i="0">
                <a:solidFill>
                  <a:srgbClr val="4A5560"/>
                </a:solidFill>
                <a:latin typeface="Manrope"/>
              </a:rPr>
              <a:t>Por menos de </a:t>
            </a:r>
            <a:r>
              <a:rPr sz="2250" b="1" i="0">
                <a:solidFill>
                  <a:srgbClr val="0A2342"/>
                </a:solidFill>
                <a:latin typeface="Manrope"/>
              </a:rPr>
              <a:t>un salario mínimo</a:t>
            </a:r>
            <a:r>
              <a:rPr sz="2250" b="0" i="0">
                <a:solidFill>
                  <a:srgbClr val="4A5560"/>
                </a:solidFill>
                <a:latin typeface="Manrope"/>
              </a:rPr>
              <a:t> al mes.</a:t>
            </a:r>
          </a:p>
        </p:txBody>
      </p:sp>
      <p:sp>
        <p:nvSpPr>
          <p:cNvPr id="19" name="Botón CTA"/>
          <p:cNvSpPr/>
          <p:nvPr/>
        </p:nvSpPr>
        <p:spPr>
          <a:xfrm>
            <a:off x="723900" y="8677275"/>
            <a:ext cx="5579269" cy="885825"/>
          </a:xfrm>
          <a:prstGeom prst="roundRect">
            <a:avLst>
              <a:gd name="adj" fmla="val 50000"/>
            </a:avLst>
          </a:prstGeom>
          <a:solidFill>
            <a:srgbClr val="25D366"/>
          </a:solidFill>
          <a:ln>
            <a:noFill/>
          </a:ln>
          <a:effectLst>
            <a:outerShdw blurRad="266700" dist="114300" dir="5400000" algn="t" rotWithShape="0">
              <a:srgbClr val="121820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0" rIns="190500" tIns="0" bIns="0" wrap="none"/>
          <a:lstStyle/>
          <a:p>
            <a:pPr algn="ctr"/>
            <a:r>
              <a:rPr sz="2250" b="1" i="0">
                <a:solidFill>
                  <a:srgbClr val="121820"/>
                </a:solidFill>
                <a:latin typeface="Manrope"/>
              </a:rPr>
              <a:t>Empieza hoy tu transformación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